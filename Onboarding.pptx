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987552"/>
            <a:ext cx="393192" cy="274320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6424" y="758952"/>
            <a:ext cx="393192" cy="356616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13232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115568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7" name="Shape 5"/>
          <p:cNvSpPr/>
          <p:nvPr/>
        </p:nvSpPr>
        <p:spPr>
          <a:xfrm>
            <a:off x="10692079" y="987552"/>
            <a:ext cx="393192" cy="274320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03559" y="758952"/>
            <a:ext cx="393192" cy="356616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37215" y="1005840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10" name="Shape 8"/>
          <p:cNvSpPr/>
          <p:nvPr/>
        </p:nvSpPr>
        <p:spPr>
          <a:xfrm>
            <a:off x="11048695" y="713232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11" name="Shape 9"/>
          <p:cNvSpPr/>
          <p:nvPr/>
        </p:nvSpPr>
        <p:spPr>
          <a:xfrm>
            <a:off x="11460175" y="1115568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12" name="Image 0" descr="/Users/adeland/website/public/images/logo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8408" y="777240"/>
            <a:ext cx="4754880" cy="21008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0080" y="3118104"/>
            <a:ext cx="91440" cy="91440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3008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EMPLOYEE ONBOARDING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33756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</a:t>
            </a:r>
            <a:endParaRPr lang="en-US" sz="5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5400" dirty="0"/>
          </a:p>
        </p:txBody>
      </p:sp>
      <p:sp>
        <p:nvSpPr>
          <p:cNvPr id="16" name="Text 13"/>
          <p:cNvSpPr/>
          <p:nvPr/>
        </p:nvSpPr>
        <p:spPr>
          <a:xfrm>
            <a:off x="594360" y="5440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1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 handbook for the Development Team of EZ Esports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94360" y="6080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Simon Chen  ·  Lead Product Engineer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265615" y="6080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ezesports.org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7784"/>
            <a:ext cx="91440" cy="91440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4805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in.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1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have you on the dev team — here's what we'll walk through.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 Esports  ·  Dev Onboarding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874959" y="6473952"/>
            <a:ext cx="393192" cy="274320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86439" y="6245352"/>
            <a:ext cx="393192" cy="356616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20095" y="6492240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10" name="Shape 8"/>
          <p:cNvSpPr/>
          <p:nvPr/>
        </p:nvSpPr>
        <p:spPr>
          <a:xfrm>
            <a:off x="11231575" y="6199632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11" name="Shape 9"/>
          <p:cNvSpPr/>
          <p:nvPr/>
        </p:nvSpPr>
        <p:spPr>
          <a:xfrm>
            <a:off x="11643055" y="6601968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12" name="Shape 10"/>
          <p:cNvSpPr/>
          <p:nvPr/>
        </p:nvSpPr>
        <p:spPr>
          <a:xfrm>
            <a:off x="6903720" y="905256"/>
            <a:ext cx="914" cy="4690872"/>
          </a:xfrm>
          <a:prstGeom prst="line">
            <a:avLst/>
          </a:prstGeom>
          <a:noFill/>
          <a:ln w="19050">
            <a:solidFill>
              <a:srgbClr val="4A4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84264" y="685800"/>
            <a:ext cx="438912" cy="438912"/>
          </a:xfrm>
          <a:prstGeom prst="ellipse">
            <a:avLst/>
          </a:prstGeom>
          <a:solidFill>
            <a:srgbClr val="1B1B1B"/>
          </a:solidFill>
          <a:ln w="22225">
            <a:solidFill>
              <a:srgbClr val="E1C6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685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pic>
        <p:nvPicPr>
          <p:cNvPr id="15" name="Image 0" descr="/private/tmp/claude-501/-Users-adeland-website/fc56f3a2-d085-4c34-9d9a-07f93831c2a2/scratchpad/deck-gen/assets/icons/LuUserCheck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758952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26680" y="66751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Overview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6684264" y="1467612"/>
            <a:ext cx="438912" cy="438912"/>
          </a:xfrm>
          <a:prstGeom prst="ellipse">
            <a:avLst/>
          </a:prstGeom>
          <a:solidFill>
            <a:srgbClr val="1B1B1B"/>
          </a:solidFill>
          <a:ln w="22225">
            <a:solidFill>
              <a:srgbClr val="E1C6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84264" y="14676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pic>
        <p:nvPicPr>
          <p:cNvPr id="19" name="Image 1" descr="/private/tmp/claude-501/-Users-adeland-website/fc56f3a2-d085-4c34-9d9a-07f93831c2a2/scratchpad/deck-gen/assets/icons/LuLayoutGrid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40764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726680" y="144932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6684264" y="2249424"/>
            <a:ext cx="438912" cy="438912"/>
          </a:xfrm>
          <a:prstGeom prst="ellipse">
            <a:avLst/>
          </a:prstGeom>
          <a:solidFill>
            <a:srgbClr val="1B1B1B"/>
          </a:solidFill>
          <a:ln w="22225">
            <a:solidFill>
              <a:srgbClr val="E1C6C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84264" y="2249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/private/tmp/claude-501/-Users-adeland-website/fc56f3a2-d085-4c34-9d9a-07f93831c2a2/scratchpad/deck-gen/assets/icons/LuNetwork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22576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726680" y="2231136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Structure</a:t>
            </a:r>
            <a:endParaRPr lang="en-US" sz="1650" dirty="0"/>
          </a:p>
        </p:txBody>
      </p:sp>
      <p:sp>
        <p:nvSpPr>
          <p:cNvPr id="25" name="Shape 20"/>
          <p:cNvSpPr/>
          <p:nvPr/>
        </p:nvSpPr>
        <p:spPr>
          <a:xfrm>
            <a:off x="6684264" y="3031236"/>
            <a:ext cx="438912" cy="438912"/>
          </a:xfrm>
          <a:prstGeom prst="ellipse">
            <a:avLst/>
          </a:prstGeom>
          <a:solidFill>
            <a:srgbClr val="1B1B1B"/>
          </a:solidFill>
          <a:ln w="22225">
            <a:solidFill>
              <a:srgbClr val="E1C6C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684264" y="30312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pic>
        <p:nvPicPr>
          <p:cNvPr id="27" name="Image 3" descr="/private/tmp/claude-501/-Users-adeland-website/fc56f3a2-d085-4c34-9d9a-07f93831c2a2/scratchpad/deck-gen/assets/icons/LuCodeXml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10438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26680" y="301294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Tools</a:t>
            </a:r>
            <a:endParaRPr lang="en-US" sz="1650" dirty="0"/>
          </a:p>
        </p:txBody>
      </p:sp>
      <p:sp>
        <p:nvSpPr>
          <p:cNvPr id="29" name="Shape 23"/>
          <p:cNvSpPr/>
          <p:nvPr/>
        </p:nvSpPr>
        <p:spPr>
          <a:xfrm>
            <a:off x="6684264" y="3813048"/>
            <a:ext cx="438912" cy="438912"/>
          </a:xfrm>
          <a:prstGeom prst="ellipse">
            <a:avLst/>
          </a:prstGeom>
          <a:solidFill>
            <a:srgbClr val="1B1B1B"/>
          </a:solidFill>
          <a:ln w="22225">
            <a:solidFill>
              <a:srgbClr val="E1C6C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684264" y="3813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pic>
        <p:nvPicPr>
          <p:cNvPr id="31" name="Image 4" descr="/private/tmp/claude-501/-Users-adeland-website/fc56f3a2-d085-4c34-9d9a-07f93831c2a2/scratchpad/deck-gen/assets/icons/LuShieldCheck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886200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726680" y="379476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 &amp; Conventions</a:t>
            </a:r>
            <a:endParaRPr lang="en-US" sz="1650" dirty="0"/>
          </a:p>
        </p:txBody>
      </p:sp>
      <p:sp>
        <p:nvSpPr>
          <p:cNvPr id="33" name="Shape 26"/>
          <p:cNvSpPr/>
          <p:nvPr/>
        </p:nvSpPr>
        <p:spPr>
          <a:xfrm>
            <a:off x="6684264" y="4594860"/>
            <a:ext cx="438912" cy="438912"/>
          </a:xfrm>
          <a:prstGeom prst="ellipse">
            <a:avLst/>
          </a:prstGeom>
          <a:solidFill>
            <a:srgbClr val="1B1B1B"/>
          </a:solidFill>
          <a:ln w="22225">
            <a:solidFill>
              <a:srgbClr val="E1C6C6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684264" y="45948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pic>
        <p:nvPicPr>
          <p:cNvPr id="35" name="Image 5" descr="/private/tmp/claude-501/-Users-adeland-website/fc56f3a2-d085-4c34-9d9a-07f93831c2a2/scratchpad/deck-gen/assets/icons/LuRocket-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68012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726680" y="457657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Projects &amp; Roadmap</a:t>
            </a:r>
            <a:endParaRPr lang="en-US" sz="1650" dirty="0"/>
          </a:p>
        </p:txBody>
      </p:sp>
      <p:sp>
        <p:nvSpPr>
          <p:cNvPr id="37" name="Shape 29"/>
          <p:cNvSpPr/>
          <p:nvPr/>
        </p:nvSpPr>
        <p:spPr>
          <a:xfrm>
            <a:off x="6684264" y="5376672"/>
            <a:ext cx="438912" cy="438912"/>
          </a:xfrm>
          <a:prstGeom prst="ellipse">
            <a:avLst/>
          </a:prstGeom>
          <a:solidFill>
            <a:srgbClr val="1B1B1B"/>
          </a:solidFill>
          <a:ln w="22225">
            <a:solidFill>
              <a:srgbClr val="E1C6C6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684264" y="5376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pic>
        <p:nvPicPr>
          <p:cNvPr id="39" name="Image 6" descr="/private/tmp/claude-501/-Users-adeland-website/fc56f3a2-d085-4c34-9d9a-07f93831c2a2/scratchpad/deck-gen/assets/icons/LuTerminal-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5449824"/>
            <a:ext cx="292608" cy="29260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726680" y="5358384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Setup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91440" cy="91440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leads the team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4206240"/>
          </a:xfrm>
          <a:prstGeom prst="roundRect">
            <a:avLst>
              <a:gd name="adj" fmla="val 3590"/>
            </a:avLst>
          </a:prstGeom>
          <a:solidFill>
            <a:srgbClr val="1B1B1B"/>
          </a:solidFill>
          <a:ln/>
        </p:spPr>
      </p:sp>
      <p:sp>
        <p:nvSpPr>
          <p:cNvPr id="6" name="Shape 4"/>
          <p:cNvSpPr/>
          <p:nvPr/>
        </p:nvSpPr>
        <p:spPr>
          <a:xfrm>
            <a:off x="1805940" y="2080260"/>
            <a:ext cx="1051560" cy="1051560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7" name="Image 0" descr="/private/tmp/claude-501/-Users-adeland-website/fc56f3a2-d085-4c34-9d9a-07f93831c2a2/scratchpad/deck-gen/assets/icons/LuUserCheck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314" y="2332634"/>
            <a:ext cx="546811" cy="5468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Simon Chen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 Product Engineer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188720" y="4434840"/>
            <a:ext cx="2286000" cy="914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617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up through the Director of Technical Product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434840" y="1737360"/>
            <a:ext cx="7223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 team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maintains the EZ Esports website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public site, the internal admin dashboard staff use to manage league data, and the pipeline that keeps everything from schools to leadership bios accurate.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14" name="Image 1" descr="/private/tmp/claude-501/-Users-adeland-website/fc56f3a2-d085-4c34-9d9a-07f93831c2a2/scratchpad/deck-gen/assets/icons/LuGitBranch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459" y="3811219"/>
            <a:ext cx="332842" cy="33284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54880" y="4297680"/>
            <a:ext cx="914" cy="411480"/>
          </a:xfrm>
          <a:prstGeom prst="line">
            <a:avLst/>
          </a:prstGeom>
          <a:noFill/>
          <a:ln w="19050">
            <a:solidFill>
              <a:srgbClr val="E1C6C6"/>
            </a:solidFill>
            <a:prstDash val="dash"/>
          </a:ln>
        </p:spPr>
      </p:sp>
      <p:sp>
        <p:nvSpPr>
          <p:cNvPr id="16" name="Text 12"/>
          <p:cNvSpPr/>
          <p:nvPr/>
        </p:nvSpPr>
        <p:spPr>
          <a:xfrm>
            <a:off x="5212080" y="3703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report to Simon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212080" y="404164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direction and code review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434840" y="4709160"/>
            <a:ext cx="640080" cy="64008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19" name="Image 2" descr="/private/tmp/claude-501/-Users-adeland-website/fc56f3a2-d085-4c34-9d9a-07f93831c2a2/scratchpad/deck-gen/assets/icons/LuMessageCircl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459" y="486277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47548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anytime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212080" y="509320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go to Simon on Discord, or in the staff server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 Esports  ·  Dev Onboarding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0874959" y="6473952"/>
            <a:ext cx="393192" cy="274320"/>
          </a:xfrm>
          <a:prstGeom prst="line">
            <a:avLst/>
          </a:prstGeom>
          <a:noFill/>
          <a:ln w="12700">
            <a:solidFill>
              <a:srgbClr val="E1C6C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286439" y="6245352"/>
            <a:ext cx="393192" cy="356616"/>
          </a:xfrm>
          <a:prstGeom prst="line">
            <a:avLst/>
          </a:prstGeom>
          <a:noFill/>
          <a:ln w="12700">
            <a:solidFill>
              <a:srgbClr val="E1C6C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820095" y="6492240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26" name="Shape 21"/>
          <p:cNvSpPr/>
          <p:nvPr/>
        </p:nvSpPr>
        <p:spPr>
          <a:xfrm>
            <a:off x="11231575" y="6199632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27" name="Shape 22"/>
          <p:cNvSpPr/>
          <p:nvPr/>
        </p:nvSpPr>
        <p:spPr>
          <a:xfrm>
            <a:off x="11643055" y="6601968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91440" cy="91440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YOU'LL 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Responsibilities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8EEEC"/>
          </a:solidFill>
          <a:ln/>
        </p:spPr>
      </p:sp>
      <p:sp>
        <p:nvSpPr>
          <p:cNvPr id="6" name="Shape 4"/>
          <p:cNvSpPr/>
          <p:nvPr/>
        </p:nvSpPr>
        <p:spPr>
          <a:xfrm>
            <a:off x="772668" y="1897380"/>
            <a:ext cx="685800" cy="6858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7" name="Image 0" descr="/private/tmp/claude-501/-Users-adeland-website/fc56f3a2-d085-4c34-9d9a-07f93831c2a2/scratchpad/deck-gen/assets/icons/LuLayoutGri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619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Site Features &amp; UI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04495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 — leagues, schools, leadership, news — in Next.js, React, and Tailwind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6916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8EEEC"/>
          </a:solidFill>
          <a:ln/>
        </p:spPr>
      </p:sp>
      <p:sp>
        <p:nvSpPr>
          <p:cNvPr id="11" name="Shape 8"/>
          <p:cNvSpPr/>
          <p:nvPr/>
        </p:nvSpPr>
        <p:spPr>
          <a:xfrm>
            <a:off x="4613148" y="1897380"/>
            <a:ext cx="685800" cy="6858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12" name="Image 1" descr="/private/tmp/claude-501/-Users-adeland-website/fc56f3a2-d085-4c34-9d9a-07f93831c2a2/scratchpad/deck-gen/assets/icons/LuWrench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06197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Tools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63440" y="304495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pages staff use to manage content, rosters, and results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16916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8EEEC"/>
          </a:solidFill>
          <a:ln/>
        </p:spPr>
      </p:sp>
      <p:sp>
        <p:nvSpPr>
          <p:cNvPr id="16" name="Shape 12"/>
          <p:cNvSpPr/>
          <p:nvPr/>
        </p:nvSpPr>
        <p:spPr>
          <a:xfrm>
            <a:off x="8453628" y="1897380"/>
            <a:ext cx="685800" cy="6858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17" name="Image 2" descr="/private/tmp/claude-501/-Users-adeland-website/fc56f3a2-d085-4c34-9d9a-07f93831c2a2/scratchpad/deck-gen/assets/icons/LuSprout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206197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&amp; ETL Pipeline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503920" y="304495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SharePoint exports → clean data via the bronze/silver/gold seed pipeline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8EEEC"/>
          </a:solidFill>
          <a:ln/>
        </p:spPr>
      </p:sp>
      <p:sp>
        <p:nvSpPr>
          <p:cNvPr id="21" name="Shape 16"/>
          <p:cNvSpPr/>
          <p:nvPr/>
        </p:nvSpPr>
        <p:spPr>
          <a:xfrm>
            <a:off x="772668" y="4274820"/>
            <a:ext cx="685800" cy="6858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22" name="Image 3" descr="/private/tmp/claude-501/-Users-adeland-website/fc56f3a2-d085-4c34-9d9a-07f93831c2a2/scratchpad/deck-gen/assets/icons/LuDatabas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43941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5056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&amp; Backend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22960" y="54223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migrations, and seed scripts against Supabase/Postgres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89120" y="406908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8EEEC"/>
          </a:solidFill>
          <a:ln/>
        </p:spPr>
      </p:sp>
      <p:sp>
        <p:nvSpPr>
          <p:cNvPr id="26" name="Shape 20"/>
          <p:cNvSpPr/>
          <p:nvPr/>
        </p:nvSpPr>
        <p:spPr>
          <a:xfrm>
            <a:off x="4613148" y="4274820"/>
            <a:ext cx="685800" cy="6858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27" name="Image 4" descr="/private/tmp/claude-501/-Users-adeland-website/fc56f3a2-d085-4c34-9d9a-07f93831c2a2/scratchpad/deck-gen/assets/icons/LuBug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439412"/>
            <a:ext cx="356616" cy="35661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63440" y="5056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Bug Fixes &amp; Maintenance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663440" y="54223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updates, security patches, UI consistency fixes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229600" y="406908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8EEEC"/>
          </a:solidFill>
          <a:ln/>
        </p:spPr>
      </p:sp>
      <p:sp>
        <p:nvSpPr>
          <p:cNvPr id="31" name="Shape 24"/>
          <p:cNvSpPr/>
          <p:nvPr/>
        </p:nvSpPr>
        <p:spPr>
          <a:xfrm>
            <a:off x="8453628" y="4274820"/>
            <a:ext cx="685800" cy="6858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32" name="Image 5" descr="/private/tmp/claude-501/-Users-adeland-website/fc56f3a2-d085-4c34-9d9a-07f93831c2a2/scratchpad/deck-gen/assets/icons/LuGitPullRequest-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4439412"/>
            <a:ext cx="356616" cy="35661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03920" y="5056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Review &amp; Testing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503920" y="54223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review, Vitest/Playwright tests, keeping the codebase healthy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 Esports  ·  Dev Onboarding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0874959" y="6473952"/>
            <a:ext cx="393192" cy="274320"/>
          </a:xfrm>
          <a:prstGeom prst="line">
            <a:avLst/>
          </a:prstGeom>
          <a:noFill/>
          <a:ln w="12700">
            <a:solidFill>
              <a:srgbClr val="E1C6C6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1286439" y="6245352"/>
            <a:ext cx="393192" cy="356616"/>
          </a:xfrm>
          <a:prstGeom prst="line">
            <a:avLst/>
          </a:prstGeom>
          <a:noFill/>
          <a:ln w="12700">
            <a:solidFill>
              <a:srgbClr val="E1C6C6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10820095" y="6492240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39" name="Shape 31"/>
          <p:cNvSpPr/>
          <p:nvPr/>
        </p:nvSpPr>
        <p:spPr>
          <a:xfrm>
            <a:off x="11231575" y="6199632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40" name="Shape 32"/>
          <p:cNvSpPr/>
          <p:nvPr/>
        </p:nvSpPr>
        <p:spPr>
          <a:xfrm>
            <a:off x="11643055" y="6601968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91440" cy="91440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DEV FITS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Company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07128" y="15544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E1C6C6"/>
          </a:solidFill>
          <a:ln/>
        </p:spPr>
      </p:sp>
      <p:sp>
        <p:nvSpPr>
          <p:cNvPr id="6" name="Text 4"/>
          <p:cNvSpPr/>
          <p:nvPr/>
        </p:nvSpPr>
        <p:spPr>
          <a:xfrm>
            <a:off x="4907128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— Edison Zhong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95848" y="2103120"/>
            <a:ext cx="914" cy="411480"/>
          </a:xfrm>
          <a:prstGeom prst="line">
            <a:avLst/>
          </a:prstGeom>
          <a:noFill/>
          <a:ln w="19050">
            <a:solidFill>
              <a:srgbClr val="4A4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2514600"/>
            <a:ext cx="6522415" cy="914"/>
          </a:xfrm>
          <a:prstGeom prst="line">
            <a:avLst/>
          </a:prstGeom>
          <a:noFill/>
          <a:ln w="19050">
            <a:solidFill>
              <a:srgbClr val="4A4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2514600"/>
            <a:ext cx="914" cy="411480"/>
          </a:xfrm>
          <a:prstGeom prst="line">
            <a:avLst/>
          </a:prstGeom>
          <a:noFill/>
          <a:ln w="19050">
            <a:solidFill>
              <a:srgbClr val="4A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62695" y="2514600"/>
            <a:ext cx="914" cy="411480"/>
          </a:xfrm>
          <a:prstGeom prst="line">
            <a:avLst/>
          </a:prstGeom>
          <a:noFill/>
          <a:ln w="19050">
            <a:solidFill>
              <a:srgbClr val="4A4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25252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1C6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Divisions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90895" y="2926080"/>
            <a:ext cx="5943600" cy="502920"/>
          </a:xfrm>
          <a:prstGeom prst="roundRect">
            <a:avLst>
              <a:gd name="adj" fmla="val 18182"/>
            </a:avLst>
          </a:prstGeom>
          <a:solidFill>
            <a:srgbClr val="252525"/>
          </a:solidFill>
          <a:ln/>
        </p:spPr>
      </p:sp>
      <p:sp>
        <p:nvSpPr>
          <p:cNvPr id="14" name="Text 12"/>
          <p:cNvSpPr/>
          <p:nvPr/>
        </p:nvSpPr>
        <p:spPr>
          <a:xfrm>
            <a:off x="5790895" y="2926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1C6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Functional Divisions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40280" y="3429000"/>
            <a:ext cx="914" cy="274320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703320"/>
            <a:ext cx="2468880" cy="914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703320"/>
            <a:ext cx="914" cy="274320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77640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2E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776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of Legends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40280" y="3703320"/>
            <a:ext cx="914" cy="274320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91640" y="3977640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2E2A2A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640" y="39776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0" y="3703320"/>
            <a:ext cx="914" cy="274320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26080" y="3977640"/>
            <a:ext cx="1097280" cy="777240"/>
          </a:xfrm>
          <a:prstGeom prst="roundRect">
            <a:avLst>
              <a:gd name="adj" fmla="val 10588"/>
            </a:avLst>
          </a:prstGeom>
          <a:solidFill>
            <a:srgbClr val="2E2A2A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0" y="39776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(other games)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48737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Associate Directors under each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762695" y="3429000"/>
            <a:ext cx="914" cy="274320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8679" y="3703320"/>
            <a:ext cx="4828032" cy="914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8679" y="3703320"/>
            <a:ext cx="914" cy="274320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90895" y="3977640"/>
            <a:ext cx="1115568" cy="777240"/>
          </a:xfrm>
          <a:prstGeom prst="roundRect">
            <a:avLst>
              <a:gd name="adj" fmla="val 10588"/>
            </a:avLst>
          </a:prstGeom>
          <a:solidFill>
            <a:srgbClr val="2E2A2A"/>
          </a:solidFill>
          <a:ln/>
        </p:spPr>
      </p:sp>
      <p:sp>
        <p:nvSpPr>
          <p:cNvPr id="31" name="Text 29"/>
          <p:cNvSpPr/>
          <p:nvPr/>
        </p:nvSpPr>
        <p:spPr>
          <a:xfrm>
            <a:off x="5790895" y="3977640"/>
            <a:ext cx="1115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55687" y="3703320"/>
            <a:ext cx="914" cy="274320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97903" y="3977640"/>
            <a:ext cx="1115568" cy="777240"/>
          </a:xfrm>
          <a:prstGeom prst="roundRect">
            <a:avLst>
              <a:gd name="adj" fmla="val 10588"/>
            </a:avLst>
          </a:prstGeom>
          <a:solidFill>
            <a:srgbClr val="2E2A2A"/>
          </a:solidFill>
          <a:ln/>
        </p:spPr>
      </p:sp>
      <p:sp>
        <p:nvSpPr>
          <p:cNvPr id="34" name="Text 32"/>
          <p:cNvSpPr/>
          <p:nvPr/>
        </p:nvSpPr>
        <p:spPr>
          <a:xfrm>
            <a:off x="6997903" y="3977640"/>
            <a:ext cx="1115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762695" y="3703320"/>
            <a:ext cx="914" cy="274320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04911" y="3977640"/>
            <a:ext cx="1115568" cy="777240"/>
          </a:xfrm>
          <a:prstGeom prst="roundRect">
            <a:avLst>
              <a:gd name="adj" fmla="val 10588"/>
            </a:avLst>
          </a:prstGeom>
          <a:solidFill>
            <a:srgbClr val="E1C6C6"/>
          </a:solidFill>
          <a:ln/>
        </p:spPr>
      </p:sp>
      <p:sp>
        <p:nvSpPr>
          <p:cNvPr id="37" name="Text 35"/>
          <p:cNvSpPr/>
          <p:nvPr/>
        </p:nvSpPr>
        <p:spPr>
          <a:xfrm>
            <a:off x="8204911" y="3977640"/>
            <a:ext cx="1115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Product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969703" y="3703320"/>
            <a:ext cx="914" cy="274320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11919" y="3977640"/>
            <a:ext cx="1115568" cy="777240"/>
          </a:xfrm>
          <a:prstGeom prst="roundRect">
            <a:avLst>
              <a:gd name="adj" fmla="val 10588"/>
            </a:avLst>
          </a:prstGeom>
          <a:solidFill>
            <a:srgbClr val="2E2A2A"/>
          </a:solidFill>
          <a:ln/>
        </p:spPr>
      </p:sp>
      <p:sp>
        <p:nvSpPr>
          <p:cNvPr id="40" name="Text 38"/>
          <p:cNvSpPr/>
          <p:nvPr/>
        </p:nvSpPr>
        <p:spPr>
          <a:xfrm>
            <a:off x="9411919" y="3977640"/>
            <a:ext cx="1115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1176711" y="3703320"/>
            <a:ext cx="914" cy="274320"/>
          </a:xfrm>
          <a:prstGeom prst="line">
            <a:avLst/>
          </a:prstGeom>
          <a:noFill/>
          <a:ln w="15875">
            <a:solidFill>
              <a:srgbClr val="4A40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18927" y="3977640"/>
            <a:ext cx="1115568" cy="777240"/>
          </a:xfrm>
          <a:prstGeom prst="roundRect">
            <a:avLst>
              <a:gd name="adj" fmla="val 10588"/>
            </a:avLst>
          </a:prstGeom>
          <a:solidFill>
            <a:srgbClr val="2E2A2A"/>
          </a:solidFill>
          <a:ln/>
        </p:spPr>
      </p:sp>
      <p:sp>
        <p:nvSpPr>
          <p:cNvPr id="43" name="Text 41"/>
          <p:cNvSpPr/>
          <p:nvPr/>
        </p:nvSpPr>
        <p:spPr>
          <a:xfrm>
            <a:off x="10618927" y="3977640"/>
            <a:ext cx="1115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Biz Dev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85255" y="48737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Associate Directors under each  ·  supports every Game Division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 Esports  ·  Dev Onboarding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874959" y="6473952"/>
            <a:ext cx="393192" cy="274320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286439" y="6245352"/>
            <a:ext cx="393192" cy="356616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20095" y="6492240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1575" y="6199632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50" name="Shape 48"/>
          <p:cNvSpPr/>
          <p:nvPr/>
        </p:nvSpPr>
        <p:spPr>
          <a:xfrm>
            <a:off x="11643055" y="6601968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91440" cy="91440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 &amp; TOOLS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build with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108960" y="2286000"/>
            <a:ext cx="2468880" cy="914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286000"/>
            <a:ext cx="2468880" cy="914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3657600"/>
            <a:ext cx="2468880" cy="914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3657600"/>
            <a:ext cx="2468880" cy="914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5029200"/>
            <a:ext cx="2468880" cy="914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5029200"/>
            <a:ext cx="2468880" cy="914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2743200"/>
            <a:ext cx="914" cy="45720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4114800"/>
            <a:ext cx="914" cy="45720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743200"/>
            <a:ext cx="914" cy="45720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4114800"/>
            <a:ext cx="914" cy="45720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0" y="2743200"/>
            <a:ext cx="914" cy="45720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0" y="4114800"/>
            <a:ext cx="914" cy="45720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1828800"/>
            <a:ext cx="914400" cy="9144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18" name="Image 0" descr="/private/tmp/claude-501/-Users-adeland-website/fc56f3a2-d085-4c34-9d9a-07f93831c2a2/scratchpad/deck-gen/assets/icons/LuCodeXml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4016" y="2048256"/>
            <a:ext cx="475488" cy="47548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0120" y="28163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577840" y="1828800"/>
            <a:ext cx="914400" cy="9144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21" name="Image 1" descr="/private/tmp/claude-501/-Users-adeland-website/fc56f3a2-d085-4c34-9d9a-07f93831c2a2/scratchpad/deck-gen/assets/icons/LuComponent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6" y="2048256"/>
            <a:ext cx="475488" cy="4754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343400" y="28163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8961120" y="1828800"/>
            <a:ext cx="914400" cy="9144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24" name="Image 2" descr="/private/tmp/claude-501/-Users-adeland-website/fc56f3a2-d085-4c34-9d9a-07f93831c2a2/scratchpad/deck-gen/assets/icons/LuFileCode2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76" y="2048256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726680" y="28163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50" dirty="0"/>
          </a:p>
        </p:txBody>
      </p:sp>
      <p:sp>
        <p:nvSpPr>
          <p:cNvPr id="26" name="Shape 21"/>
          <p:cNvSpPr/>
          <p:nvPr/>
        </p:nvSpPr>
        <p:spPr>
          <a:xfrm>
            <a:off x="2194560" y="3200400"/>
            <a:ext cx="914400" cy="9144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27" name="Image 3" descr="/private/tmp/claude-501/-Users-adeland-website/fc56f3a2-d085-4c34-9d9a-07f93831c2a2/scratchpad/deck-gen/assets/icons/LuPalett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3419856"/>
            <a:ext cx="475488" cy="4754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0120" y="4187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5577840" y="3200400"/>
            <a:ext cx="914400" cy="9144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30" name="Image 4" descr="/private/tmp/claude-501/-Users-adeland-website/fc56f3a2-d085-4c34-9d9a-07f93831c2a2/scratchpad/deck-gen/assets/icons/LuAccessibility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3419856"/>
            <a:ext cx="475488" cy="4754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343400" y="4187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Aria</a:t>
            </a:r>
            <a:endParaRPr lang="en-US" sz="1450" dirty="0"/>
          </a:p>
        </p:txBody>
      </p:sp>
      <p:sp>
        <p:nvSpPr>
          <p:cNvPr id="32" name="Shape 25"/>
          <p:cNvSpPr/>
          <p:nvPr/>
        </p:nvSpPr>
        <p:spPr>
          <a:xfrm>
            <a:off x="8961120" y="3200400"/>
            <a:ext cx="914400" cy="9144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33" name="Image 5" descr="/private/tmp/claude-501/-Users-adeland-website/fc56f3a2-d085-4c34-9d9a-07f93831c2a2/scratchpad/deck-gen/assets/icons/LuDatabase-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3419856"/>
            <a:ext cx="475488" cy="4754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726680" y="4187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50" dirty="0"/>
          </a:p>
        </p:txBody>
      </p:sp>
      <p:sp>
        <p:nvSpPr>
          <p:cNvPr id="35" name="Shape 27"/>
          <p:cNvSpPr/>
          <p:nvPr/>
        </p:nvSpPr>
        <p:spPr>
          <a:xfrm>
            <a:off x="2194560" y="4572000"/>
            <a:ext cx="914400" cy="9144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36" name="Image 6" descr="/private/tmp/claude-501/-Users-adeland-website/fc56f3a2-d085-4c34-9d9a-07f93831c2a2/scratchpad/deck-gen/assets/icons/LuGitMerge-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4016" y="4791456"/>
            <a:ext cx="475488" cy="4754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60120" y="55595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Drizzle ORM</a:t>
            </a:r>
            <a:endParaRPr lang="en-US" sz="1450" dirty="0"/>
          </a:p>
        </p:txBody>
      </p:sp>
      <p:sp>
        <p:nvSpPr>
          <p:cNvPr id="38" name="Shape 29"/>
          <p:cNvSpPr/>
          <p:nvPr/>
        </p:nvSpPr>
        <p:spPr>
          <a:xfrm>
            <a:off x="5577840" y="4572000"/>
            <a:ext cx="914400" cy="9144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39" name="Image 7" descr="/private/tmp/claude-501/-Users-adeland-website/fc56f3a2-d085-4c34-9d9a-07f93831c2a2/scratchpad/deck-gen/assets/icons/LuCloud-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7296" y="4791456"/>
            <a:ext cx="475488" cy="4754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343400" y="55595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50" dirty="0"/>
          </a:p>
        </p:txBody>
      </p:sp>
      <p:sp>
        <p:nvSpPr>
          <p:cNvPr id="41" name="Shape 31"/>
          <p:cNvSpPr/>
          <p:nvPr/>
        </p:nvSpPr>
        <p:spPr>
          <a:xfrm>
            <a:off x="8961120" y="4572000"/>
            <a:ext cx="914400" cy="91440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42" name="Image 8" descr="/private/tmp/claude-501/-Users-adeland-website/fc56f3a2-d085-4c34-9d9a-07f93831c2a2/scratchpad/deck-gen/assets/icons/LuGithub-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0576" y="4791456"/>
            <a:ext cx="475488" cy="47548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726680" y="55595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50" dirty="0"/>
          </a:p>
        </p:txBody>
      </p:sp>
      <p:sp>
        <p:nvSpPr>
          <p:cNvPr id="44" name="Text 3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 Esports  ·  Dev Onboarding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10874959" y="6473952"/>
            <a:ext cx="393192" cy="274320"/>
          </a:xfrm>
          <a:prstGeom prst="line">
            <a:avLst/>
          </a:prstGeom>
          <a:noFill/>
          <a:ln w="12700">
            <a:solidFill>
              <a:srgbClr val="E1C6C6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11286439" y="6245352"/>
            <a:ext cx="393192" cy="356616"/>
          </a:xfrm>
          <a:prstGeom prst="line">
            <a:avLst/>
          </a:prstGeom>
          <a:noFill/>
          <a:ln w="12700">
            <a:solidFill>
              <a:srgbClr val="E1C6C6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10820095" y="6492240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48" name="Shape 37"/>
          <p:cNvSpPr/>
          <p:nvPr/>
        </p:nvSpPr>
        <p:spPr>
          <a:xfrm>
            <a:off x="11231575" y="6199632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49" name="Shape 38"/>
          <p:cNvSpPr/>
          <p:nvPr/>
        </p:nvSpPr>
        <p:spPr>
          <a:xfrm>
            <a:off x="11643055" y="6601968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91440" cy="91440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STACK, IN DETAIL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&amp;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737360" y="3657600"/>
            <a:ext cx="8716975" cy="914"/>
          </a:xfrm>
          <a:prstGeom prst="line">
            <a:avLst/>
          </a:prstGeom>
          <a:noFill/>
          <a:ln w="38100">
            <a:solidFill>
              <a:srgbClr val="F8E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3268980"/>
            <a:ext cx="914" cy="38862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2308860"/>
            <a:ext cx="960120" cy="96012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8" name="Image 0" descr="/private/tmp/claude-501/-Users-adeland-website/fc56f3a2-d085-4c34-9d9a-07f93831c2a2/scratchpad/deck-gen/assets/icons/LuCodeXml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729" y="2539289"/>
            <a:ext cx="499262" cy="4992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5224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 (custom fork)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8242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differ from defaults — read node_modules/next/dist/docs before writing new code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691640" y="3611880"/>
            <a:ext cx="91440" cy="91440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12" name="Shape 9"/>
          <p:cNvSpPr/>
          <p:nvPr/>
        </p:nvSpPr>
        <p:spPr>
          <a:xfrm>
            <a:off x="4643018" y="3657600"/>
            <a:ext cx="914" cy="38862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2958" y="4046220"/>
            <a:ext cx="960120" cy="96012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14" name="Image 1" descr="/private/tmp/claude-501/-Users-adeland-website/fc56f3a2-d085-4c34-9d9a-07f93831c2a2/scratchpad/deck-gen/assets/icons/LuComponent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387" y="4276649"/>
            <a:ext cx="499262" cy="4992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4298" y="51435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19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54298" y="54452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React Aria Components for accessible UI primitives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97298" y="3611880"/>
            <a:ext cx="91440" cy="91440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18" name="Shape 14"/>
          <p:cNvSpPr/>
          <p:nvPr/>
        </p:nvSpPr>
        <p:spPr>
          <a:xfrm>
            <a:off x="7548677" y="3268980"/>
            <a:ext cx="914" cy="38862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68617" y="2308860"/>
            <a:ext cx="960120" cy="96012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20" name="Image 2" descr="/private/tmp/claude-501/-Users-adeland-website/fc56f3a2-d085-4c34-9d9a-07f93831c2a2/scratchpad/deck-gen/assets/icons/LuPalett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046" y="2539289"/>
            <a:ext cx="499262" cy="4992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9957" y="15224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Tailwind CSS v4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9957" y="18242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 across the site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502957" y="3611880"/>
            <a:ext cx="91440" cy="91440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24" name="Shape 19"/>
          <p:cNvSpPr/>
          <p:nvPr/>
        </p:nvSpPr>
        <p:spPr>
          <a:xfrm>
            <a:off x="10454335" y="3657600"/>
            <a:ext cx="914" cy="38862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974275" y="4046220"/>
            <a:ext cx="960120" cy="960120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26" name="Image 3" descr="/private/tmp/claude-501/-Users-adeland-website/fc56f3a2-d085-4c34-9d9a-07f93831c2a2/scratchpad/deck-gen/assets/icons/LuSparkles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4" y="4276649"/>
            <a:ext cx="499262" cy="49926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65615" y="51435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Framer Motion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265615" y="54452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and interaction polish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10408615" y="3611880"/>
            <a:ext cx="91440" cy="91440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30" name="Text 2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 Esports  ·  Dev Onboarding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91440" cy="91440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STACK, IN DETAIL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Data, Backend &amp; Infra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252525"/>
          </a:solidFill>
          <a:ln/>
        </p:spPr>
      </p:sp>
      <p:sp>
        <p:nvSpPr>
          <p:cNvPr id="6" name="Shape 4"/>
          <p:cNvSpPr/>
          <p:nvPr/>
        </p:nvSpPr>
        <p:spPr>
          <a:xfrm>
            <a:off x="754380" y="1737360"/>
            <a:ext cx="502920" cy="502920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7" name="Image 0" descr="/private/tmp/claude-501/-Users-adeland-website/fc56f3a2-d085-4c34-9d9a-07f93831c2a2/scratchpad/deck-gen/assets/icons/LuDatabas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81" y="185806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91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Supabase / Postgres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663440" y="1691640"/>
            <a:ext cx="6613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points straight at production — there is no separate environment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14016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2E2A2A"/>
          </a:solidFill>
          <a:ln/>
        </p:spPr>
      </p:sp>
      <p:sp>
        <p:nvSpPr>
          <p:cNvPr id="11" name="Shape 8"/>
          <p:cNvSpPr/>
          <p:nvPr/>
        </p:nvSpPr>
        <p:spPr>
          <a:xfrm>
            <a:off x="754380" y="2459736"/>
            <a:ext cx="502920" cy="502920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12" name="Image 1" descr="/private/tmp/claude-501/-Users-adeland-website/fc56f3a2-d085-4c34-9d9a-07f93831c2a2/scratchpad/deck-gen/assets/icons/LuGitMerg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81" y="2580437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41401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Drizzle ORM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63440" y="2414016"/>
            <a:ext cx="6613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migrations — db:generate, db:push, db:migrate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136392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252525"/>
          </a:solidFill>
          <a:ln/>
        </p:spPr>
      </p:sp>
      <p:sp>
        <p:nvSpPr>
          <p:cNvPr id="16" name="Shape 12"/>
          <p:cNvSpPr/>
          <p:nvPr/>
        </p:nvSpPr>
        <p:spPr>
          <a:xfrm>
            <a:off x="754380" y="3182112"/>
            <a:ext cx="502920" cy="502920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17" name="Image 2" descr="/private/tmp/claude-501/-Users-adeland-website/fc56f3a2-d085-4c34-9d9a-07f93831c2a2/scratchpad/deck-gen/assets/icons/LuSprout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1" y="3302813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13639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pipeline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663440" y="3136392"/>
            <a:ext cx="6613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db:seed / db:seed:gold, gated by assertSeedTargetAllowed()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858768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2E2A2A"/>
          </a:solidFill>
          <a:ln/>
        </p:spPr>
      </p:sp>
      <p:sp>
        <p:nvSpPr>
          <p:cNvPr id="21" name="Shape 16"/>
          <p:cNvSpPr/>
          <p:nvPr/>
        </p:nvSpPr>
        <p:spPr>
          <a:xfrm>
            <a:off x="754380" y="3904488"/>
            <a:ext cx="502920" cy="502920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22" name="Image 3" descr="/private/tmp/claude-501/-Users-adeland-website/fc56f3a2-d085-4c34-9d9a-07f93831c2a2/scratchpad/deck-gen/assets/icons/LuCloud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1" y="4025189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38587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Vercel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663440" y="3858768"/>
            <a:ext cx="6613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deploys, the Data Cache, analytics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4581144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252525"/>
          </a:solidFill>
          <a:ln/>
        </p:spPr>
      </p:sp>
      <p:sp>
        <p:nvSpPr>
          <p:cNvPr id="26" name="Shape 20"/>
          <p:cNvSpPr/>
          <p:nvPr/>
        </p:nvSpPr>
        <p:spPr>
          <a:xfrm>
            <a:off x="754380" y="4626864"/>
            <a:ext cx="502920" cy="502920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27" name="Image 4" descr="/private/tmp/claude-501/-Users-adeland-website/fc56f3a2-d085-4c34-9d9a-07f93831c2a2/scratchpad/deck-gen/assets/icons/LuGithub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1" y="4747565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458114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663440" y="4581144"/>
            <a:ext cx="6613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requests, code review, version control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530352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2E2A2A"/>
          </a:solidFill>
          <a:ln/>
        </p:spPr>
      </p:sp>
      <p:sp>
        <p:nvSpPr>
          <p:cNvPr id="31" name="Shape 24"/>
          <p:cNvSpPr/>
          <p:nvPr/>
        </p:nvSpPr>
        <p:spPr>
          <a:xfrm>
            <a:off x="754380" y="5349240"/>
            <a:ext cx="502920" cy="502920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32" name="Image 5" descr="/private/tmp/claude-501/-Users-adeland-website/fc56f3a2-d085-4c34-9d9a-07f93831c2a2/scratchpad/deck-gen/assets/icons/LuFlaskConical-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81" y="5469941"/>
            <a:ext cx="261518" cy="26151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417320" y="5303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Vitest + Playwright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663440" y="5303520"/>
            <a:ext cx="6613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end-to-end testing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 Esports  ·  Dev Onboarding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0874959" y="6473952"/>
            <a:ext cx="393192" cy="274320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11286439" y="6245352"/>
            <a:ext cx="393192" cy="356616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10820095" y="6492240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39" name="Shape 31"/>
          <p:cNvSpPr/>
          <p:nvPr/>
        </p:nvSpPr>
        <p:spPr>
          <a:xfrm>
            <a:off x="11231575" y="6199632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40" name="Shape 32"/>
          <p:cNvSpPr/>
          <p:nvPr/>
        </p:nvSpPr>
        <p:spPr>
          <a:xfrm>
            <a:off x="11643055" y="6601968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91440" cy="91440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Coding Standards &amp; Conventions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F8EEE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731520"/>
          </a:xfrm>
          <a:prstGeom prst="roundRect">
            <a:avLst>
              <a:gd name="adj" fmla="val 50000"/>
            </a:avLst>
          </a:prstGeom>
          <a:solidFill>
            <a:srgbClr val="B98888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737360"/>
            <a:ext cx="548640" cy="548640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8" name="Image 0" descr="/private/tmp/claude-501/-Users-adeland-website/fc56f3a2-d085-4c34-9d9a-07f93831c2a2/scratchpad/deck-gen/assets/icons/LuLock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186903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700784"/>
            <a:ext cx="98142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.env is production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508760" y="1984248"/>
            <a:ext cx="98142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any script that reads it as capable of touching live data — confirm with a lead before any seed or migration, even though the code gate would technically allow it.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05456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F8EEEC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505456"/>
            <a:ext cx="73152" cy="731520"/>
          </a:xfrm>
          <a:prstGeom prst="roundRect">
            <a:avLst>
              <a:gd name="adj" fmla="val 50000"/>
            </a:avLst>
          </a:prstGeom>
          <a:solidFill>
            <a:srgbClr val="B98888"/>
          </a:solidFill>
          <a:ln/>
        </p:spPr>
      </p:sp>
      <p:sp>
        <p:nvSpPr>
          <p:cNvPr id="13" name="Shape 10"/>
          <p:cNvSpPr/>
          <p:nvPr/>
        </p:nvSpPr>
        <p:spPr>
          <a:xfrm>
            <a:off x="841248" y="2596896"/>
            <a:ext cx="548640" cy="548640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14" name="Image 1" descr="/private/tmp/claude-501/-Users-adeland-website/fc56f3a2-d085-4c34-9d9a-07f93831c2a2/scratchpad/deck-gen/assets/icons/LuRefreshCw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728570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560320"/>
            <a:ext cx="98142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Cache survives redeploys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508760" y="2843784"/>
            <a:ext cx="98142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anything that changes row UUIDs, call revalidateTag explicitly. A redeploy alone will not clear stale cached ids.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3364992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F8EEEC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" y="3364992"/>
            <a:ext cx="73152" cy="731520"/>
          </a:xfrm>
          <a:prstGeom prst="roundRect">
            <a:avLst>
              <a:gd name="adj" fmla="val 50000"/>
            </a:avLst>
          </a:prstGeom>
          <a:solidFill>
            <a:srgbClr val="B98888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248" y="3456432"/>
            <a:ext cx="548640" cy="548640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20" name="Image 2" descr="/private/tmp/claude-501/-Users-adeland-website/fc56f3a2-d085-4c34-9d9a-07f93831c2a2/scratchpad/deck-gen/assets/icons/LuUserX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2" y="3588106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3419856"/>
            <a:ext cx="98142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PII stays gitignored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508760" y="3703320"/>
            <a:ext cx="98142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sharepoint/ and db/backups/ carry student PII — check nested folders aren't slipping through root-anchored ignore patterns before a broad git add.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4224528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F8EEEC"/>
          </a:solidFill>
          <a:ln/>
        </p:spPr>
      </p:sp>
      <p:sp>
        <p:nvSpPr>
          <p:cNvPr id="24" name="Shape 19"/>
          <p:cNvSpPr/>
          <p:nvPr/>
        </p:nvSpPr>
        <p:spPr>
          <a:xfrm>
            <a:off x="548640" y="4224528"/>
            <a:ext cx="73152" cy="731520"/>
          </a:xfrm>
          <a:prstGeom prst="roundRect">
            <a:avLst>
              <a:gd name="adj" fmla="val 50000"/>
            </a:avLst>
          </a:prstGeom>
          <a:solidFill>
            <a:srgbClr val="B98888"/>
          </a:solidFill>
          <a:ln/>
        </p:spPr>
      </p:sp>
      <p:sp>
        <p:nvSpPr>
          <p:cNvPr id="25" name="Shape 20"/>
          <p:cNvSpPr/>
          <p:nvPr/>
        </p:nvSpPr>
        <p:spPr>
          <a:xfrm>
            <a:off x="841248" y="4315968"/>
            <a:ext cx="548640" cy="548640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26" name="Image 3" descr="/private/tmp/claude-501/-Users-adeland-website/fc56f3a2-d085-4c34-9d9a-07f93831c2a2/scratchpad/deck-gen/assets/icons/LuMessageSquareWarning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447642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08760" y="4279392"/>
            <a:ext cx="98142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trust a comment as proof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508760" y="4562856"/>
            <a:ext cx="98142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safety claims against the live database before relying on them for anything destructive.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48640" y="5084064"/>
            <a:ext cx="11094415" cy="731520"/>
          </a:xfrm>
          <a:prstGeom prst="roundRect">
            <a:avLst>
              <a:gd name="adj" fmla="val 11250"/>
            </a:avLst>
          </a:prstGeom>
          <a:solidFill>
            <a:srgbClr val="F8EEEC"/>
          </a:solidFill>
          <a:ln/>
        </p:spPr>
      </p:sp>
      <p:sp>
        <p:nvSpPr>
          <p:cNvPr id="30" name="Shape 24"/>
          <p:cNvSpPr/>
          <p:nvPr/>
        </p:nvSpPr>
        <p:spPr>
          <a:xfrm>
            <a:off x="548640" y="5084064"/>
            <a:ext cx="73152" cy="731520"/>
          </a:xfrm>
          <a:prstGeom prst="roundRect">
            <a:avLst>
              <a:gd name="adj" fmla="val 50000"/>
            </a:avLst>
          </a:prstGeom>
          <a:solidFill>
            <a:srgbClr val="B98888"/>
          </a:solidFill>
          <a:ln/>
        </p:spPr>
      </p:sp>
      <p:sp>
        <p:nvSpPr>
          <p:cNvPr id="31" name="Shape 25"/>
          <p:cNvSpPr/>
          <p:nvPr/>
        </p:nvSpPr>
        <p:spPr>
          <a:xfrm>
            <a:off x="841248" y="5175504"/>
            <a:ext cx="548640" cy="548640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32" name="Image 4" descr="/private/tmp/claude-501/-Users-adeland-website/fc56f3a2-d085-4c34-9d9a-07f93831c2a2/scratchpad/deck-gen/assets/icons/LuBookOpen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2" y="5307178"/>
            <a:ext cx="285293" cy="28529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08760" y="5138928"/>
            <a:ext cx="98142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before you write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508760" y="5422392"/>
            <a:ext cx="98142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Next.js is customized — check node_modules/next/dist/docs first, APIs may differ from what you expect.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 Esports  ·  Dev Onboarding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10874959" y="6473952"/>
            <a:ext cx="393192" cy="274320"/>
          </a:xfrm>
          <a:prstGeom prst="line">
            <a:avLst/>
          </a:prstGeom>
          <a:noFill/>
          <a:ln w="12700">
            <a:solidFill>
              <a:srgbClr val="E1C6C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1286439" y="6245352"/>
            <a:ext cx="393192" cy="356616"/>
          </a:xfrm>
          <a:prstGeom prst="line">
            <a:avLst/>
          </a:prstGeom>
          <a:noFill/>
          <a:ln w="12700">
            <a:solidFill>
              <a:srgbClr val="E1C6C6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10820095" y="6492240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39" name="Shape 32"/>
          <p:cNvSpPr/>
          <p:nvPr/>
        </p:nvSpPr>
        <p:spPr>
          <a:xfrm>
            <a:off x="11231575" y="6199632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40" name="Shape 33"/>
          <p:cNvSpPr/>
          <p:nvPr/>
        </p:nvSpPr>
        <p:spPr>
          <a:xfrm>
            <a:off x="11643055" y="6601968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91440" cy="91440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ACTIVE RIGHT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Projects &amp;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are actively building the site.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252525"/>
          </a:solidFill>
          <a:ln/>
        </p:spPr>
      </p:sp>
      <p:sp>
        <p:nvSpPr>
          <p:cNvPr id="7" name="Shape 5"/>
          <p:cNvSpPr/>
          <p:nvPr/>
        </p:nvSpPr>
        <p:spPr>
          <a:xfrm>
            <a:off x="800100" y="2125980"/>
            <a:ext cx="685800" cy="685800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8" name="Image 0" descr="/private/tmp/claude-501/-Users-adeland-website/fc56f3a2-d085-4c34-9d9a-07f93831c2a2/scratchpad/deck-gen/assets/icons/LuLayoutGri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29057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Website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2918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700"/>
              </a:lnSpc>
              <a:buSzPct val="100000"/>
              <a:buChar char="▪"/>
            </a:pPr>
            <a:r>
              <a:rPr lang="en-US" sz="115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&amp; school pages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▪"/>
            </a:pPr>
            <a:r>
              <a:rPr lang="en-US" sz="115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directory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▪"/>
            </a:pPr>
            <a:r>
              <a:rPr lang="en-US" sz="115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sections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70832" y="196596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252525"/>
          </a:solidFill>
          <a:ln/>
        </p:spPr>
      </p:sp>
      <p:sp>
        <p:nvSpPr>
          <p:cNvPr id="12" name="Shape 9"/>
          <p:cNvSpPr/>
          <p:nvPr/>
        </p:nvSpPr>
        <p:spPr>
          <a:xfrm>
            <a:off x="4622292" y="2125980"/>
            <a:ext cx="685800" cy="685800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13" name="Image 1" descr="/private/tmp/claude-501/-Users-adeland-website/fc56f3a2-d085-4c34-9d9a-07f93831c2a2/scratchpad/deck-gen/assets/icons/LuWrench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4" y="229057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45152" y="32918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700"/>
              </a:lnSpc>
              <a:buSzPct val="100000"/>
              <a:buChar char="▪"/>
            </a:pPr>
            <a:r>
              <a:rPr lang="en-US" sz="115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▪"/>
            </a:pPr>
            <a:r>
              <a:rPr lang="en-US" sz="115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&amp; results tools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▪"/>
            </a:pPr>
            <a:r>
              <a:rPr lang="en-US" sz="115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revalidation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93024" y="1965960"/>
            <a:ext cx="3566160" cy="2880360"/>
          </a:xfrm>
          <a:prstGeom prst="roundRect">
            <a:avLst>
              <a:gd name="adj" fmla="val 3810"/>
            </a:avLst>
          </a:prstGeom>
          <a:solidFill>
            <a:srgbClr val="252525"/>
          </a:solidFill>
          <a:ln/>
        </p:spPr>
      </p:sp>
      <p:sp>
        <p:nvSpPr>
          <p:cNvPr id="17" name="Shape 13"/>
          <p:cNvSpPr/>
          <p:nvPr/>
        </p:nvSpPr>
        <p:spPr>
          <a:xfrm>
            <a:off x="8444484" y="2125980"/>
            <a:ext cx="685800" cy="685800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18" name="Image 2" descr="/private/tmp/claude-501/-Users-adeland-website/fc56f3a2-d085-4c34-9d9a-07f93831c2a2/scratchpad/deck-gen/assets/icons/LuWaypoints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076" y="229057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67344" y="2926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67344" y="32918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700"/>
              </a:lnSpc>
              <a:buSzPct val="100000"/>
              <a:buChar char="▪"/>
            </a:pPr>
            <a:r>
              <a:rPr lang="en-US" sz="115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ETL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▪"/>
            </a:pPr>
            <a:r>
              <a:rPr lang="en-US" sz="115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exports → Postgres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▪"/>
            </a:pPr>
            <a:r>
              <a:rPr lang="en-US" sz="1150" dirty="0">
                <a:solidFill>
                  <a:srgbClr val="C9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structuring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5221224"/>
            <a:ext cx="91440" cy="91440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22" name="Text 17"/>
          <p:cNvSpPr/>
          <p:nvPr/>
        </p:nvSpPr>
        <p:spPr>
          <a:xfrm>
            <a:off x="749808" y="51114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 FOCUS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85800" y="5623560"/>
            <a:ext cx="10820095" cy="914"/>
          </a:xfrm>
          <a:prstGeom prst="line">
            <a:avLst/>
          </a:prstGeom>
          <a:noFill/>
          <a:ln w="19050">
            <a:solidFill>
              <a:srgbClr val="4A40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792" y="5559552"/>
            <a:ext cx="128016" cy="128016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25" name="Text 20"/>
          <p:cNvSpPr/>
          <p:nvPr/>
        </p:nvSpPr>
        <p:spPr>
          <a:xfrm>
            <a:off x="685800" y="5733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standardization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031840" y="5559552"/>
            <a:ext cx="128016" cy="128016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27" name="Text 22"/>
          <p:cNvSpPr/>
          <p:nvPr/>
        </p:nvSpPr>
        <p:spPr>
          <a:xfrm>
            <a:off x="5090008" y="5733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data modeling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11441887" y="5559552"/>
            <a:ext cx="128016" cy="128016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29" name="Text 24"/>
          <p:cNvSpPr/>
          <p:nvPr/>
        </p:nvSpPr>
        <p:spPr>
          <a:xfrm>
            <a:off x="9494215" y="5733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&amp; security fixes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2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 Esports  ·  Dev Onboarding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12064"/>
            <a:ext cx="91440" cy="91440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Environment &amp; Access Setup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682496"/>
            <a:ext cx="566928" cy="566928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6" name="Image 0" descr="/private/tmp/claude-501/-Users-adeland-website/fc56f3a2-d085-4c34-9d9a-07f93831c2a2/scratchpad/deck-gen/assets/icons/LuTerminal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279" y="181855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9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the repo and run npm install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2258568"/>
            <a:ext cx="914" cy="18288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" y="2432304"/>
            <a:ext cx="566928" cy="566928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10" name="Image 1" descr="/private/tmp/claude-501/-Users-adeland-website/fc56f3a2-d085-4c34-9d9a-07f93831c2a2/scratchpad/deck-gen/assets/icons/LuDatabase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79" y="2568367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441448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9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your own local Postgres with an explicit DATABASE_URL when testing seed/migration changes — never the live .env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68680" y="3008376"/>
            <a:ext cx="914" cy="18288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85216" y="3182112"/>
            <a:ext cx="566928" cy="566928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14" name="Image 2" descr="/private/tmp/claude-501/-Users-adeland-website/fc56f3a2-d085-4c34-9d9a-07f93831c2a2/scratchpad/deck-gen/assets/icons/LuUsers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79" y="3318175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191256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9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the staff Discord and the EZ Esports server, introduce yourself in the staff channel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68680" y="3758184"/>
            <a:ext cx="914" cy="182880"/>
          </a:xfrm>
          <a:prstGeom prst="line">
            <a:avLst/>
          </a:prstGeom>
          <a:noFill/>
          <a:ln w="25400">
            <a:solidFill>
              <a:srgbClr val="F8EE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85216" y="3931920"/>
            <a:ext cx="566928" cy="566928"/>
          </a:xfrm>
          <a:prstGeom prst="ellipse">
            <a:avLst/>
          </a:prstGeom>
          <a:solidFill>
            <a:srgbClr val="B98888"/>
          </a:solidFill>
          <a:ln/>
        </p:spPr>
      </p:sp>
      <p:pic>
        <p:nvPicPr>
          <p:cNvPr id="18" name="Image 3" descr="/private/tmp/claude-501/-Users-adeland-website/fc56f3a2-d085-4c34-9d9a-07f93831c2a2/scratchpad/deck-gen/assets/icons/LuUserCheck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79" y="406798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3941064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B9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up introduction meetings with other departments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919472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F8EEEC"/>
          </a:solidFill>
          <a:ln/>
        </p:spPr>
      </p:sp>
      <p:sp>
        <p:nvSpPr>
          <p:cNvPr id="21" name="Shape 15"/>
          <p:cNvSpPr/>
          <p:nvPr/>
        </p:nvSpPr>
        <p:spPr>
          <a:xfrm>
            <a:off x="950976" y="5138928"/>
            <a:ext cx="566928" cy="566928"/>
          </a:xfrm>
          <a:prstGeom prst="ellipse">
            <a:avLst/>
          </a:prstGeom>
          <a:solidFill>
            <a:srgbClr val="1B1B1B"/>
          </a:solidFill>
          <a:ln/>
        </p:spPr>
      </p:sp>
      <p:pic>
        <p:nvPicPr>
          <p:cNvPr id="22" name="Image 4" descr="/private/tmp/claude-501/-Users-adeland-website/fc56f3a2-d085-4c34-9d9a-07f93831c2a2/scratchpad/deck-gen/assets/icons/LuInfo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039" y="5274991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91640" y="5065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DISCLAIMER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1691640" y="5330952"/>
            <a:ext cx="9814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43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use any editor or tools you're comfortable with — these are just what the team currently uses, not a requirement.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 Esports  ·  Dev Onboarding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10874959" y="6473952"/>
            <a:ext cx="393192" cy="274320"/>
          </a:xfrm>
          <a:prstGeom prst="line">
            <a:avLst/>
          </a:prstGeom>
          <a:noFill/>
          <a:ln w="12700">
            <a:solidFill>
              <a:srgbClr val="E1C6C6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1286439" y="6245352"/>
            <a:ext cx="393192" cy="356616"/>
          </a:xfrm>
          <a:prstGeom prst="line">
            <a:avLst/>
          </a:prstGeom>
          <a:noFill/>
          <a:ln w="12700">
            <a:solidFill>
              <a:srgbClr val="E1C6C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0820095" y="6492240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29" name="Shape 22"/>
          <p:cNvSpPr/>
          <p:nvPr/>
        </p:nvSpPr>
        <p:spPr>
          <a:xfrm>
            <a:off x="11231575" y="6199632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  <p:sp>
        <p:nvSpPr>
          <p:cNvPr id="30" name="Shape 23"/>
          <p:cNvSpPr/>
          <p:nvPr/>
        </p:nvSpPr>
        <p:spPr>
          <a:xfrm>
            <a:off x="11643055" y="6601968"/>
            <a:ext cx="100584" cy="100584"/>
          </a:xfrm>
          <a:prstGeom prst="ellipse">
            <a:avLst/>
          </a:prstGeom>
          <a:solidFill>
            <a:srgbClr val="B98888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987552"/>
            <a:ext cx="393192" cy="274320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6424" y="758952"/>
            <a:ext cx="393192" cy="356616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713232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115568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7" name="Shape 5"/>
          <p:cNvSpPr/>
          <p:nvPr/>
        </p:nvSpPr>
        <p:spPr>
          <a:xfrm>
            <a:off x="10692079" y="987552"/>
            <a:ext cx="393192" cy="274320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03559" y="758952"/>
            <a:ext cx="393192" cy="356616"/>
          </a:xfrm>
          <a:prstGeom prst="line">
            <a:avLst/>
          </a:prstGeom>
          <a:noFill/>
          <a:ln w="12700">
            <a:solidFill>
              <a:srgbClr val="4A4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37215" y="1005840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10" name="Shape 8"/>
          <p:cNvSpPr/>
          <p:nvPr/>
        </p:nvSpPr>
        <p:spPr>
          <a:xfrm>
            <a:off x="11048695" y="713232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11" name="Shape 9"/>
          <p:cNvSpPr/>
          <p:nvPr/>
        </p:nvSpPr>
        <p:spPr>
          <a:xfrm>
            <a:off x="11460175" y="1115568"/>
            <a:ext cx="100584" cy="100584"/>
          </a:xfrm>
          <a:prstGeom prst="ellipse">
            <a:avLst/>
          </a:prstGeom>
          <a:solidFill>
            <a:srgbClr val="E1C6C6"/>
          </a:solidFill>
          <a:ln/>
        </p:spPr>
      </p:sp>
      <p:sp>
        <p:nvSpPr>
          <p:cNvPr id="12" name="Shape 10"/>
          <p:cNvSpPr/>
          <p:nvPr/>
        </p:nvSpPr>
        <p:spPr>
          <a:xfrm>
            <a:off x="1325880" y="2286000"/>
            <a:ext cx="1188720" cy="1188720"/>
          </a:xfrm>
          <a:prstGeom prst="ellipse">
            <a:avLst/>
          </a:prstGeom>
          <a:solidFill>
            <a:srgbClr val="E1C6C6"/>
          </a:solidFill>
          <a:ln/>
        </p:spPr>
      </p:sp>
      <p:pic>
        <p:nvPicPr>
          <p:cNvPr id="13" name="Image 0" descr="/private/tmp/claude-501/-Users-adeland-website/fc56f3a2-d085-4c34-9d9a-07f93831c2a2/scratchpad/deck-gen/assets/icons/LuGitBranch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173" y="2571293"/>
            <a:ext cx="618134" cy="61813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834640" y="169164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5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</a:t>
            </a:r>
            <a:endParaRPr lang="en-US" sz="5600" dirty="0"/>
          </a:p>
        </p:txBody>
      </p:sp>
      <p:sp>
        <p:nvSpPr>
          <p:cNvPr id="15" name="Text 12"/>
          <p:cNvSpPr/>
          <p:nvPr/>
        </p:nvSpPr>
        <p:spPr>
          <a:xfrm>
            <a:off x="288036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C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Simon Chen  ·  Lead Product Engineer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88036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ezesports.org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2026-08-13T06:42:22Z</dcterms:created>
  <dcterms:modified xsi:type="dcterms:W3CDTF">2026-08-13T06:42:22Z</dcterms:modified>
</cp:coreProperties>
</file>